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0:00-0:45</a:t>
            </a:r>
          </a:p>
          <a:p/>
          <a:p>
            <a:r>
              <a:t>Welcome. Today I'll walk through MobiScan - our self-hosted mobile security scanner built entirely on the latest OWASP MASTG guidelines. In 15 minutes I'll cover why we built it, the architecture, a live demo of scanning, AI-generated Frida scripts, dynamic analysis, PoC apps, patching, and version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0:45-1:15</a:t>
            </a:r>
          </a:p>
          <a:p/>
          <a:p>
            <a:r>
              <a:t>Quick roadmap. We start with the problem, then architecture, then the core static analysis engine, the AI layer, a live demo, the offensive tooling (PoC apps + patcher), and finish with version comparison and roadmap.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1:15-2:30</a:t>
            </a:r>
          </a:p>
          <a:p/>
          <a:p>
            <a:r>
              <a:t>Explain the pain: scanners give you a FAIL but not a next step; reports aren't traceable to an engagement; proving UI-layer vulns to a client is hard. MobiScan closes each of these gaps end-to-end. Emphasise: this is a pentest tool, not just a linter.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2:30-3:45</a:t>
            </a:r>
          </a:p>
          <a:p/>
          <a:p>
            <a:r>
              <a:t>Architecture: a single FastAPI process binds 0.0.0.0:8000 so anyone on the network can reach it from their browser. Everything is modular under core/ - the scanner, the rules engine, the AI layer, PoC generator, patcher, and comparison engine. No cloud, no external API calls: everything runs inside your network, which matters for client confidentiality.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3:45-5:30</a:t>
            </a:r>
          </a:p>
          <a:p/>
          <a:p>
            <a:r>
              <a:t>This is the core. 96 MASTG-derived rules across Android and iOS. Key differentiator: evidence. Every result carries the exact file/class/line and the snippet - so the report shows proof, not a claim. Also: metadata fields like bundle ID and min SDK are always extracted (we fixed earlier gaps). Results roll into severity counts and a risk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5:30-6:15</a:t>
            </a:r>
          </a:p>
          <a:p/>
          <a:p>
            <a:r>
              <a:t>Workflow: drop the file, enter the PSS ID and test owner, hit scan. Date/time is automatic. When it finishes the browser redirects straight to the result page. The engagement metadata means 50 scans across 3 clients stay organised.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6:15-7:45</a:t>
            </a:r>
          </a:p>
          <a:p/>
          <a:p>
            <a:r>
              <a:t>This is the 'smart' layer. Crucially, it is evidence-driven: we only generate a root-bypass script when root detection was actually found. Each script shows its confidence and the test that triggered it. One click generates the full set; copy-all gives a bundle. If we later plug in a local LLM via Ollama, it slots into the same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7:45-10:45  (3 minutes - LIVE)</a:t>
            </a:r>
          </a:p>
          <a:p/>
          <a:p>
            <a:r>
              <a:t>Demo script:</a:t>
            </a:r>
          </a:p>
          <a:p>
            <a:r>
              <a:t>1. Show dashboard - scan count, severity stats, PSS IDs (30s)</a:t>
            </a:r>
          </a:p>
          <a:p>
            <a:r>
              <a:t>2. New scan - upload APK, PSS-1234, owner, watch progress + auto redirect (45s)</a:t>
            </a:r>
          </a:p>
          <a:p>
            <a:r>
              <a:t>3. MASTG tab - expand a FAIL, show evidence snippet + OWASP link (45s)</a:t>
            </a:r>
          </a:p>
          <a:p>
            <a:r>
              <a:t>4. Frida tab - click AI Generate, show confidence-scored scripts (30s)</a:t>
            </a:r>
          </a:p>
          <a:p>
            <a:r>
              <a:t>5. PoC section - show tapjacking PoC targeting the app's exported activities (30s)</a:t>
            </a:r>
          </a:p>
          <a:p>
            <a:r>
              <a:t>6. Toggle dark/light theme (15s)</a:t>
            </a:r>
          </a:p>
          <a:p>
            <a:r>
              <a:t>Keep to 3 minutes - this is the centrepiece.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10:45-12:00</a:t>
            </a:r>
          </a:p>
          <a:p/>
          <a:p>
            <a:r>
              <a:t>Instead of telling a client 'this activity is tapjackable', we hand them an APK that proves it. The PoC reads the scan's exported activities and builds a dedicated app targeting exactly those. Separate APK for tapjacking vs task hijacking - only generated when that finding exists. It compiles on our server with the Android SDK toolchain and installs on any non-rooted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12:00-13:00</a:t>
            </a:r>
          </a:p>
          <a:p/>
          <a:p>
            <a:r>
              <a:t>Many assessments require the app to run on a stock, non-rooted device. The patcher takes an APK or IPA and walks the full pipeline: decompile, patch smali, recompile, align, sign. For iOS it injects FridaGadget, adjusts the bundle ID, strips the old signature and re-signs - then gives step-by-step sideloading instructions. This removes the most tedious manual step in mobile pentesting.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13:00-14:00</a:t>
            </a:r>
          </a:p>
          <a:p/>
          <a:p>
            <a:r>
              <a:t>For retests you need to know what changed. We diff activities (screens), buttons/UI elements, components, permissions, deep links, exported surface, native libs - plus the risk trend across MASTG tests. Scans of the same package are auto-grouped so picking two versions is trivial. A newly-exported activity is a regression even when the overall score looks flat.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14:00-14:30</a:t>
            </a:r>
          </a:p>
          <a:p/>
          <a:p>
            <a:r>
              <a:t>Quick coverage view: every MASVS category maps to concrete MobiScan capabilities - and notably the PLATFORM and RESILIENCE categories go beyond static rules into PoC apps, Frida and patching. That's the 'beyond MobSF' part of the original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14:30-15:00</a:t>
            </a:r>
          </a:p>
          <a:p/>
          <a:p>
            <a:r>
              <a:t>Roadmap candidates - all designed, awaiting your go-ahead: PDF export, permission matrix, API endpoint discovery, checklist generator, optional local-LLM integration, and a richer live-device lab. Recap deployment: one command, one machine, whole team.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buffer / Q&amp;A</a:t>
            </a:r>
          </a:p>
          <a:p/>
          <a:p>
            <a:r>
              <a:t>Hold here for questions. Backup talking points: how rules were derived from MASTG test cases, how evidence is captured, why AI is deterministic-first with optional LLM, and BlueStacks/emulator integration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C62828"/>
                </a:solidFill>
                <a:latin typeface="Segoe UI"/>
              </a:rPr>
              <a:t>MOBILE APPLICATION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1F252D"/>
                </a:solidFill>
                <a:latin typeface="Segoe UI"/>
              </a:rPr>
              <a:t>MobiScan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A6673"/>
                </a:solidFill>
                <a:latin typeface="Segoe UI"/>
              </a:rPr>
              <a:t>OWASP MASTG Static Analysis • AI-Driven Frida Scripts • Live Dynamic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4023360"/>
            <a:ext cx="1371600" cy="384048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C62828"/>
                </a:solidFill>
                <a:latin typeface="Segoe UI"/>
              </a:rPr>
              <a:t>Android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4023360"/>
            <a:ext cx="1371600" cy="384048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8E0000"/>
                </a:solidFill>
                <a:latin typeface="Segoe UI"/>
              </a:rPr>
              <a:t>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4023360"/>
            <a:ext cx="1463040" cy="384048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B2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B26B00"/>
                </a:solidFill>
                <a:latin typeface="Segoe UI"/>
              </a:rPr>
              <a:t>Non-root PoCs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673"/>
                </a:solidFill>
                <a:latin typeface="Segoe UI"/>
              </a:rPr>
              <a:t>15-Minute Technical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62828"/>
                </a:solidFill>
                <a:latin typeface="Segoe UI"/>
              </a:rPr>
              <a:t>Self-hosted  •  Network-accessible  •  Pentest-ready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15 minutes — 7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7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52D"/>
                </a:solidFill>
                <a:latin typeface="Segoe UI"/>
              </a:rPr>
              <a:t>Why MobiScan?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83664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673"/>
                </a:solidFill>
                <a:latin typeface="Segoe UI"/>
              </a:rPr>
              <a:t>The gap in existing tooling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69880" y="1682495"/>
            <a:ext cx="822960" cy="34747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8E0000"/>
                </a:solidFill>
                <a:latin typeface="Segoe UI"/>
              </a:rPr>
              <a:t>2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494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04288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52D"/>
                </a:solidFill>
                <a:latin typeface="Segoe UI"/>
              </a:rPr>
              <a:t>Platform Overview &amp;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578608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673"/>
                </a:solidFill>
                <a:latin typeface="Segoe UI"/>
              </a:rPr>
              <a:t>Modules and data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69880" y="2377440"/>
            <a:ext cx="822960" cy="34747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8E0000"/>
                </a:solidFill>
                <a:latin typeface="Segoe UI"/>
              </a:rPr>
              <a:t>2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44368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54096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999232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52D"/>
                </a:solidFill>
                <a:latin typeface="Segoe UI"/>
              </a:rPr>
              <a:t>Static Analysis — OWASP MASTG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273551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673"/>
                </a:solidFill>
                <a:latin typeface="Segoe UI"/>
              </a:rPr>
              <a:t>96 rules, evidence-backed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3072384"/>
            <a:ext cx="822960" cy="34747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8E0000"/>
                </a:solidFill>
                <a:latin typeface="Segoe UI"/>
              </a:rPr>
              <a:t>3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39311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49039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694175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52D"/>
                </a:solidFill>
                <a:latin typeface="Segoe UI"/>
              </a:rPr>
              <a:t>AI-Powered Frida Script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96849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673"/>
                </a:solidFill>
                <a:latin typeface="Segoe UI"/>
              </a:rPr>
              <a:t>Scripts only for found issues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80" y="3767327"/>
            <a:ext cx="822960" cy="34747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8E0000"/>
                </a:solidFill>
                <a:latin typeface="Segoe UI"/>
              </a:rPr>
              <a:t>2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34255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443983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389119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52D"/>
                </a:solidFill>
                <a:latin typeface="Segoe UI"/>
              </a:rPr>
              <a:t>Live Demo: Scan →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66344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673"/>
                </a:solidFill>
                <a:latin typeface="Segoe UI"/>
              </a:rPr>
              <a:t>Full workflow with PSS ID tracking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9880" y="4462271"/>
            <a:ext cx="822960" cy="34747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8E0000"/>
                </a:solidFill>
                <a:latin typeface="Segoe UI"/>
              </a:rPr>
              <a:t>3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29199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7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Segoe U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084063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52D"/>
                </a:solidFill>
                <a:latin typeface="Segoe UI"/>
              </a:rPr>
              <a:t>PoC Apps, Patcher &amp; Dynamic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358383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673"/>
                </a:solidFill>
                <a:latin typeface="Segoe UI"/>
              </a:rPr>
              <a:t>Tapjacking, task hijacking, signing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69880" y="5157215"/>
            <a:ext cx="822960" cy="34747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8E0000"/>
                </a:solidFill>
                <a:latin typeface="Segoe UI"/>
              </a:rPr>
              <a:t>2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724143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833871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62828"/>
                </a:solidFill>
                <a:latin typeface="Segoe U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779007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52D"/>
                </a:solidFill>
                <a:latin typeface="Segoe UI"/>
              </a:rPr>
              <a:t>Version Comparison &amp;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6053327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673"/>
                </a:solidFill>
                <a:latin typeface="Segoe UI"/>
              </a:rPr>
              <a:t>Screen/button diff between builds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69880" y="5852159"/>
            <a:ext cx="822960" cy="347472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8E0000"/>
                </a:solidFill>
                <a:latin typeface="Segoe UI"/>
              </a:rPr>
              <a:t>1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Why MobiScan?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The problem we're solving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Segoe UI"/>
              </a:rPr>
              <a:t>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Existing scanners stop at signatures — they don't map to the full OWASP MASTG test catalogue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No linkage between a failed test and a ready-to-run Frida script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No per-engagement tracking (PSS ID, test owner, timestamps)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Screen/UI regression between app versions is never compared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No way to prove a tapjacking or task-hijack finding to a client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Patching for non-rooted devices is a manual, error-prone chore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66360" cy="44805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Segoe UI"/>
              </a:rPr>
              <a:t>The MobiScan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96+ MASTG rules covering Android &amp; iOS static analysis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AI engine that generates Frida scripts ONLY for issues actually found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PSS ID + Test Owner + auto timestamp on every scan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Version comparison that diffs screens, buttons, permissions &amp; deep links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On-demand, app-specific PoC APKs for tapjacking / task hijacking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1F252D"/>
                </a:solidFill>
                <a:latin typeface="Segoe UI"/>
              </a:rPr>
              <a:t>▪  One-click APK/IPA patching pipeline for non-root/non-jailbreak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Platform Overview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FastAPI + modular analysis core, self-hosted on one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778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  <a:latin typeface="Segoe UI"/>
              </a:rP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Upload APK/IPA
PSS ID +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574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62828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79" y="164592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778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79" y="17830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8E0000"/>
                </a:solidFill>
                <a:latin typeface="Segoe UI"/>
              </a:rPr>
              <a:t>FastAPI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1945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0.0.0.0:8000
Network accessible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20574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62828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164592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7780">
            <a:solidFill>
              <a:srgbClr val="B2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7830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B26B00"/>
                </a:solidFill>
                <a:latin typeface="Segoe UI"/>
              </a:rPr>
              <a:t>Scanner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1945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androguard
lief / lxml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0574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62828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64592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778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7830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  <a:latin typeface="Segoe UI"/>
              </a:rPr>
              <a:t>Rules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1945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96 MASTG rules
Android + 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0574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62828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164592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778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17830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  <a:latin typeface="Segoe UI"/>
              </a:rPr>
              <a:t>Findings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1945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Reports, diffs
Frida scripts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20040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101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nsolas"/>
              </a:rPr>
              <a:t>core/scanner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57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673"/>
                </a:solidFill>
                <a:latin typeface="Segoe UI"/>
              </a:rPr>
              <a:t>APK + IPA static analysis, manifest, dex, resources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20040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nsolas"/>
              </a:rPr>
              <a:t>core/rules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657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673"/>
                </a:solidFill>
                <a:latin typeface="Segoe UI"/>
              </a:rPr>
              <a:t>OWASP MASTG rule definitions &amp; evidence templates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20040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33101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nsolas"/>
              </a:rPr>
              <a:t>core/ai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3657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673"/>
                </a:solidFill>
                <a:latin typeface="Segoe UI"/>
              </a:rPr>
              <a:t>Match scoring → tailored Frida script generation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4340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4531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nsolas"/>
              </a:rPr>
              <a:t>core/poc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00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673"/>
                </a:solidFill>
                <a:latin typeface="Segoe UI"/>
              </a:rPr>
              <a:t>Generates &amp; compiles app-specific PoC APKs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434340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44531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nsolas"/>
              </a:rPr>
              <a:t>core/patcher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800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673"/>
                </a:solidFill>
                <a:latin typeface="Segoe UI"/>
              </a:rPr>
              <a:t>apktool/smali patching, signing, IPA re-sign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434340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44531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nsolas"/>
              </a:rPr>
              <a:t>core/comparison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9" y="4800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673"/>
                </a:solidFill>
                <a:latin typeface="Segoe UI"/>
              </a:rPr>
              <a:t>Version diff: screens, buttons, permissions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E0000"/>
                </a:solidFill>
                <a:latin typeface="Segoe UI"/>
              </a:rPr>
              <a:t>Templates (Jinja2) → dark/light UI  •  SQLite persistence  •  No cloud dependency — runs entirely inside your network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Static Analysis — OWASP MASTG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Evidence-backed results, not just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103120" cy="14630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28216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C62828"/>
                </a:solidFill>
                <a:latin typeface="Segoe UI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673"/>
                </a:solidFill>
                <a:latin typeface="Segoe UI"/>
              </a:rPr>
              <a:t>MASTG test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600200"/>
            <a:ext cx="2103120" cy="14630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728216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8E0000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37744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673"/>
                </a:solidFill>
                <a:latin typeface="Segoe UI"/>
              </a:rPr>
              <a:t>Platforms: Android + 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600200"/>
            <a:ext cx="2103120" cy="14630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728216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B26B00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7744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673"/>
                </a:solidFill>
                <a:latin typeface="Segoe UI"/>
              </a:rPr>
              <a:t>Statuses: PASS/WARN/FAIL/INFO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600200"/>
            <a:ext cx="2103120" cy="14630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728216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C62828"/>
                </a:solidFill>
                <a:latin typeface="Segoe U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37744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673"/>
                </a:solidFill>
                <a:latin typeface="Segoe UI"/>
              </a:rPr>
              <a:t>Tests carry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600200"/>
            <a:ext cx="1600200" cy="14630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728216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C62828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377440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6673"/>
                </a:solidFill>
                <a:latin typeface="Segoe UI"/>
              </a:rPr>
              <a:t>False 'unknown' fields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9184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29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Segoe UI"/>
              </a:rPr>
              <a:t>What gets extracted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8862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Bundle ID, version, min/target SDK — always populated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All activities, services, receivers, providers + export status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Permissions, deep links, URL schemes, native libs, WebView classes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Crypto usage, hardcoded secrets, logging, backup flags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Root detection / SSL pinning presence — drives Frida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291840"/>
            <a:ext cx="5166360" cy="2743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4290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Segoe UI"/>
              </a:rPr>
              <a:t>Evidence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8620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Every FAIL/WARN shows the exact file, class or manifest line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Evidence includes the offending snippet — copy-paste ready for reports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PASS results show the positive proof (e.g. RootCheck.class found)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OWASP MAS link attached to each test ID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Counts roll up into severity totals + risk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Scan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From upload to report in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057400" cy="15544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874519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52D"/>
                </a:solidFill>
                <a:latin typeface="Segoe UI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Drag &amp; drop APK or IPA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E0000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737360"/>
            <a:ext cx="2057400" cy="15544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94759" y="1874519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6888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52D"/>
                </a:solidFill>
                <a:latin typeface="Segoe UI"/>
              </a:rPr>
              <a:t>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PSS-1234 + Test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2860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E0000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1737360"/>
            <a:ext cx="2057400" cy="15544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9" y="1874519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6888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52D"/>
                </a:solidFill>
                <a:latin typeface="Segoe UI"/>
              </a:rPr>
              <a:t>Auto-stamp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Date/time recorded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2860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E0000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59" y="1737360"/>
            <a:ext cx="2057400" cy="15544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58199" y="1874519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246888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52D"/>
                </a:solidFill>
                <a:latin typeface="Segoe UI"/>
              </a:rP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59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96 MASTG rules 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59" y="22860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8E0000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1737360"/>
            <a:ext cx="2057400" cy="15544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89919" y="1874519"/>
            <a:ext cx="502920" cy="5029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46888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52D"/>
                </a:solidFill>
                <a:latin typeface="Segoe UI"/>
              </a:rPr>
              <a:t>Result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673"/>
                </a:solidFill>
                <a:latin typeface="Segoe UI"/>
              </a:rPr>
              <a:t>Instant redirect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61188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74903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Segoe UI"/>
              </a:rPr>
              <a:t>Engagement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6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PSS ID (e.g. PSS-1234) uniquely identifies the engagement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Test Owner field ties every scan to the pentester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Timestamp auto-captured — no manual date entry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All scans searchable &amp; filterable on the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61188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749039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E0000"/>
                </a:solidFill>
                <a:latin typeface="Segoe UI"/>
              </a:rPr>
              <a:t>Post-scan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Instant redirect to the scan detail page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4 tabs: MASTG Results • Frida • Dynamic • Raw JSON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PoC download section appears when applicable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Printable / exportable report per scan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AI-Powered Frida Script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Scripts generated only for issues the app actually has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Segoe UI"/>
              </a:rPr>
              <a:t>How the matching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Detection pass: </a:t>
            </a:r>
            <a:r>
              <a:rPr sz="1350">
                <a:solidFill>
                  <a:srgbClr val="1F252D"/>
                </a:solidFill>
                <a:latin typeface="Segoe UI"/>
              </a:rPr>
              <a:t>scan results are read for what was FOUND (e.g. RootCheck.class present) — not what's missing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Signature scoring: </a:t>
            </a:r>
            <a:r>
              <a:rPr sz="1350">
                <a:solidFill>
                  <a:srgbClr val="1F252D"/>
                </a:solidFill>
                <a:latin typeface="Segoe UI"/>
              </a:rPr>
              <a:t>candidate script patterns are scored against detections with a confidence %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Threshold filter: </a:t>
            </a:r>
            <a:r>
              <a:rPr sz="1350">
                <a:solidFill>
                  <a:srgbClr val="1F252D"/>
                </a:solidFill>
                <a:latin typeface="Segoe UI"/>
              </a:rPr>
              <a:t>only scripts above the confidence bar are emitted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Knowledge base: </a:t>
            </a:r>
            <a:r>
              <a:rPr sz="1350">
                <a:solidFill>
                  <a:srgbClr val="1F252D"/>
                </a:solidFill>
                <a:latin typeface="Segoe UI"/>
              </a:rPr>
              <a:t>curated Frida templates for root bypass, SSL pinning, network monitor, key extraction, WebView, intents, jailbreak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No generic filler: </a:t>
            </a:r>
            <a:r>
              <a:rPr sz="1350">
                <a:solidFill>
                  <a:srgbClr val="1F252D"/>
                </a:solidFill>
                <a:latin typeface="Segoe UI"/>
              </a:rPr>
              <a:t>if the app has no root detection, no root-bypass script is generated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166360" cy="4434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E0000"/>
                </a:solidFill>
                <a:latin typeface="Segoe UI"/>
              </a:rPr>
              <a:t>What you 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One-click “AI Generate” per scan — clean UI, no manual picks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Each script shows match confidence and the finding that triggered 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Scripts are runnable with: frida -U -f &lt;pkg&gt; -l script.js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Copy individual scripts or Copy All to clipboard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Cross-platform: Android &amp; iOS variants selected automatically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Roadmap: optional Ollama/local LLM for bespoke 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C62828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F252D"/>
                </a:solidFill>
                <a:latin typeface="Segoe UI"/>
              </a:rPr>
              <a:t>Upload → Scan → MASTG Results → AI Frida → PoC Download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4114800"/>
            <a:ext cx="1600200" cy="384048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8E0000"/>
                </a:solidFill>
                <a:latin typeface="Segoe UI"/>
              </a:rPr>
              <a:t>Dashboard stats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79" y="4114800"/>
            <a:ext cx="1600200" cy="384048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8E0000"/>
                </a:solidFill>
                <a:latin typeface="Segoe UI"/>
              </a:rPr>
              <a:t>Evidence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4114800"/>
            <a:ext cx="1600200" cy="384048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8E0000"/>
                </a:solidFill>
                <a:latin typeface="Segoe UI"/>
              </a:rPr>
              <a:t>Tab 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4114800"/>
            <a:ext cx="1600200" cy="384048"/>
          </a:xfrm>
          <a:prstGeom prst="roundRect">
            <a:avLst/>
          </a:prstGeom>
          <a:solidFill>
            <a:srgbClr val="EDF1F5"/>
          </a:solidFill>
          <a:ln w="127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8E0000"/>
                </a:solidFill>
                <a:latin typeface="Segoe UI"/>
              </a:rPr>
              <a:t>Theme toggle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Proof-of-Concept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App-specific tapjacking &amp; task-hijacking APKs — generated on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Segoe UI"/>
              </a:rPr>
              <a:t>Tapjacking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Overlays the victim app's real exported activities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Invisible overlay captures taps on Send Money / View Balance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Demonstrates missing filterTouchesWhenObscured protection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166360" cy="21031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26B00"/>
                </a:solidFill>
                <a:latin typeface="Segoe UI"/>
              </a:rPr>
              <a:t>Task Hijacking 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Launches a spoofed task with matching taskAffinity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Intercepts the victim's task reconstruction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Proves documentLaunchMode / affinity weaknesses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44200" cy="210312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Segoe UI"/>
              </a:rPr>
              <a:t>Why this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Generated per scan — targets THAT app's package + activities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Separate APK for whichever vuln is present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805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Full build pipeline: aapt → javac → d8 → zipalign → apksigner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1F252D"/>
                </a:solidFill>
                <a:latin typeface="Segoe UI"/>
              </a:rPr>
              <a:t>▪  Installable on non-rooted devices — client-ready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APK / IPA Patcher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From decompile to signed build — for non-rooted, non-jailbroken devices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Segoe UI"/>
              </a:rPr>
              <a:t>Android (APK)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Decompile: </a:t>
            </a:r>
            <a:r>
              <a:rPr sz="1350">
                <a:solidFill>
                  <a:srgbClr val="1F252D"/>
                </a:solidFill>
                <a:latin typeface="Segoe UI"/>
              </a:rPr>
              <a:t>apktool → smali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Patch: </a:t>
            </a:r>
            <a:r>
              <a:rPr sz="1350">
                <a:solidFill>
                  <a:srgbClr val="1F252D"/>
                </a:solidFill>
                <a:latin typeface="Segoe UI"/>
              </a:rPr>
              <a:t>smali-level binary edits (debuggable, allowBackup, pinning removal, string patches) — 18 patches verified in one run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Recompile: </a:t>
            </a:r>
            <a:r>
              <a:rPr sz="1350">
                <a:solidFill>
                  <a:srgbClr val="1F252D"/>
                </a:solidFill>
                <a:latin typeface="Segoe UI"/>
              </a:rPr>
              <a:t>apktool b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Align: </a:t>
            </a:r>
            <a:r>
              <a:rPr sz="1350">
                <a:solidFill>
                  <a:srgbClr val="1F252D"/>
                </a:solidFill>
                <a:latin typeface="Segoe UI"/>
              </a:rPr>
              <a:t>zipalign -p 4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Sign: </a:t>
            </a:r>
            <a:r>
              <a:rPr sz="1350">
                <a:solidFill>
                  <a:srgbClr val="1F252D"/>
                </a:solidFill>
                <a:latin typeface="Segoe UI"/>
              </a:rPr>
              <a:t>apksigner with generated debug keystore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C62828"/>
                </a:solidFill>
                <a:latin typeface="Segoe UI"/>
              </a:rPr>
              <a:t>▪  Result: </a:t>
            </a:r>
            <a:r>
              <a:rPr sz="1350">
                <a:solidFill>
                  <a:srgbClr val="1F252D"/>
                </a:solidFill>
                <a:latin typeface="Segoe UI"/>
              </a:rPr>
              <a:t>installable APK ready for an unrooted test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166360" cy="4434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E0000"/>
                </a:solidFill>
                <a:latin typeface="Segoe UI"/>
              </a:rPr>
              <a:t>iOS (IPA)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8E0000"/>
                </a:solidFill>
                <a:latin typeface="Segoe UI"/>
              </a:rPr>
              <a:t>▪  Extract: </a:t>
            </a:r>
            <a:r>
              <a:rPr sz="1350">
                <a:solidFill>
                  <a:srgbClr val="1F252D"/>
                </a:solidFill>
                <a:latin typeface="Segoe UI"/>
              </a:rPr>
              <a:t>unzip IPA → locate .app bundle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8E0000"/>
                </a:solidFill>
                <a:latin typeface="Segoe UI"/>
              </a:rPr>
              <a:t>▪  Patch: </a:t>
            </a:r>
            <a:r>
              <a:rPr sz="1350">
                <a:solidFill>
                  <a:srgbClr val="1F252D"/>
                </a:solidFill>
                <a:latin typeface="Segoe UI"/>
              </a:rPr>
              <a:t>FridaGadget injection, bundle-id change, plist edits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8E0000"/>
                </a:solidFill>
                <a:latin typeface="Segoe UI"/>
              </a:rPr>
              <a:t>▪  Clean: </a:t>
            </a:r>
            <a:r>
              <a:rPr sz="1350">
                <a:solidFill>
                  <a:srgbClr val="1F252D"/>
                </a:solidFill>
                <a:latin typeface="Segoe UI"/>
              </a:rPr>
              <a:t>strip _CodeSignature + provisioning profile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8E0000"/>
                </a:solidFill>
                <a:latin typeface="Segoe UI"/>
              </a:rPr>
              <a:t>▪  Re-sign: </a:t>
            </a:r>
            <a:r>
              <a:rPr sz="1350">
                <a:solidFill>
                  <a:srgbClr val="1F252D"/>
                </a:solidFill>
                <a:latin typeface="Segoe UI"/>
              </a:rPr>
              <a:t>cert generated when ldid/codesign unavailable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8E0000"/>
                </a:solidFill>
                <a:latin typeface="Segoe UI"/>
              </a:rPr>
              <a:t>▪  Deliver: </a:t>
            </a:r>
            <a:r>
              <a:rPr sz="1350">
                <a:solidFill>
                  <a:srgbClr val="1F252D"/>
                </a:solidFill>
                <a:latin typeface="Segoe UI"/>
              </a:rPr>
              <a:t>install via AltStore / Sideloadly / 3uTools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8E0000"/>
                </a:solidFill>
                <a:latin typeface="Segoe UI"/>
              </a:rPr>
              <a:t>▪  Guidance: </a:t>
            </a:r>
            <a:r>
              <a:rPr sz="1350">
                <a:solidFill>
                  <a:srgbClr val="1F252D"/>
                </a:solidFill>
                <a:latin typeface="Segoe UI"/>
              </a:rPr>
              <a:t>in-app instructions incl. 7-day free-cert expiry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Version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Know exactly what changed between builds — down to the button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Segoe UI"/>
              </a:rPr>
              <a:t>What we diff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C62828"/>
                </a:solidFill>
                <a:latin typeface="Segoe UI"/>
              </a:rPr>
              <a:t>▪  📱 Screens: </a:t>
            </a:r>
            <a:r>
              <a:rPr sz="1300">
                <a:solidFill>
                  <a:srgbClr val="1F252D"/>
                </a:solidFill>
                <a:latin typeface="Segoe UI"/>
              </a:rPr>
              <a:t>activities added / removed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C62828"/>
                </a:solidFill>
                <a:latin typeface="Segoe UI"/>
              </a:rPr>
              <a:t>▪  🔘 Buttons &amp; UI elements: </a:t>
            </a:r>
            <a:r>
              <a:rPr sz="1300">
                <a:solidFill>
                  <a:srgbClr val="1F252D"/>
                </a:solidFill>
                <a:latin typeface="Segoe UI"/>
              </a:rPr>
              <a:t>new clickable controls detected from layouts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C62828"/>
                </a:solidFill>
                <a:latin typeface="Segoe UI"/>
              </a:rPr>
              <a:t>▪  ⚙️ Components: </a:t>
            </a:r>
            <a:r>
              <a:rPr sz="1300">
                <a:solidFill>
                  <a:srgbClr val="1F252D"/>
                </a:solidFill>
                <a:latin typeface="Segoe UI"/>
              </a:rPr>
              <a:t>services, receivers, providers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C62828"/>
                </a:solidFill>
                <a:latin typeface="Segoe UI"/>
              </a:rPr>
              <a:t>▪  🔒 Permissions: </a:t>
            </a:r>
            <a:r>
              <a:rPr sz="1300">
                <a:solidFill>
                  <a:srgbClr val="1F252D"/>
                </a:solidFill>
                <a:latin typeface="Segoe UI"/>
              </a:rPr>
              <a:t>new dangerous permissions highlighted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C62828"/>
                </a:solidFill>
                <a:latin typeface="Segoe UI"/>
              </a:rPr>
              <a:t>▪  🔗 Deep links: </a:t>
            </a:r>
            <a:r>
              <a:rPr sz="1300">
                <a:solidFill>
                  <a:srgbClr val="1F252D"/>
                </a:solidFill>
                <a:latin typeface="Segoe UI"/>
              </a:rPr>
              <a:t>new URL schemes / intent filters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C62828"/>
                </a:solidFill>
                <a:latin typeface="Segoe UI"/>
              </a:rPr>
              <a:t>▪  📤 Exported surface: </a:t>
            </a:r>
            <a:r>
              <a:rPr sz="1300">
                <a:solidFill>
                  <a:srgbClr val="1F252D"/>
                </a:solidFill>
                <a:latin typeface="Segoe UI"/>
              </a:rPr>
              <a:t>newly exported components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C62828"/>
                </a:solidFill>
                <a:latin typeface="Segoe UI"/>
              </a:rPr>
              <a:t>▪  📁 Native libs &amp; WebViews: </a:t>
            </a:r>
            <a:r>
              <a:rPr sz="1300">
                <a:solidFill>
                  <a:srgbClr val="1F252D"/>
                </a:solidFill>
                <a:latin typeface="Segoe UI"/>
              </a:rPr>
              <a:t>added attack surface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C62828"/>
                </a:solidFill>
                <a:latin typeface="Segoe UI"/>
              </a:rPr>
              <a:t>▪  🎯 Risk trend: </a:t>
            </a:r>
            <a:r>
              <a:rPr sz="1300">
                <a:solidFill>
                  <a:srgbClr val="1F252D"/>
                </a:solidFill>
                <a:latin typeface="Segoe UI"/>
              </a:rPr>
              <a:t>improved / regressed per MASTG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166360" cy="443484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E0000"/>
                </a:solidFill>
                <a:latin typeface="Segoe UI"/>
              </a:rPr>
              <a:t>Pentest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Regression check: did the fix actually land?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New screens = new attack surface — focus retest effort there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A newly exported activity or permission is a regression even if score is unchanged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Same-package scans are auto-grouped on the comparison page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Select any two versions → one-click side-by-side report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1F252D"/>
                </a:solidFill>
                <a:latin typeface="Segoe UI"/>
              </a:rPr>
              <a:t>▪  Ideal for retests &amp; delta assessments in long engagements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Coverage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Where each OWASP MASTG area is handled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Segoe UI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6002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Segoe UI"/>
              </a:rPr>
              <a:t>Example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Segoe UI"/>
              </a:rPr>
              <a:t>MobiScan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8424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122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52D"/>
                </a:solidFill>
                <a:latin typeface="Consolas"/>
              </a:rPr>
              <a:t>MASVS-STORAGE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1226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Segoe UI"/>
              </a:rPr>
              <a:t>Hardcoded data, world-readable files,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1122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C62828"/>
                </a:solidFill>
                <a:latin typeface="Segoe UI"/>
              </a:rPr>
              <a:t>Static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2432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523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52D"/>
                </a:solidFill>
                <a:latin typeface="Consolas"/>
              </a:rPr>
              <a:t>MASVS-CRYPTO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75234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Segoe UI"/>
              </a:rPr>
              <a:t>Weak algorithms, hardcoded keys, ECB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7523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C62828"/>
                </a:solidFill>
                <a:latin typeface="Segoe UI"/>
              </a:rPr>
              <a:t>Static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6440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9242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52D"/>
                </a:solidFill>
                <a:latin typeface="Consolas"/>
              </a:rPr>
              <a:t>MASVS-AUTH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39242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Segoe UI"/>
              </a:rPr>
              <a:t>Biometric &amp; session handling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39242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E0000"/>
                </a:solidFill>
                <a:latin typeface="Segoe UI"/>
              </a:rPr>
              <a:t>Static + Dynamic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0448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3250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52D"/>
                </a:solidFill>
                <a:latin typeface="Consolas"/>
              </a:rPr>
              <a:t>MASVS-NETWORK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03250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Segoe UI"/>
              </a:rPr>
              <a:t>TLS config, cert pinning, cleartext traffic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03250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C62828"/>
                </a:solidFill>
                <a:latin typeface="Segoe UI"/>
              </a:rPr>
              <a:t>Static + Frida + Dynamic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4456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725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52D"/>
                </a:solidFill>
                <a:latin typeface="Consolas"/>
              </a:rPr>
              <a:t>MASVS-PLATFORM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67258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Segoe UI"/>
              </a:rPr>
              <a:t>Exported components, tapjacking, task hijack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6725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B26B00"/>
                </a:solidFill>
                <a:latin typeface="Segoe UI"/>
              </a:rPr>
              <a:t>Static + PoC APK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8464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126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52D"/>
                </a:solidFill>
                <a:latin typeface="Consolas"/>
              </a:rPr>
              <a:t>MASVS-RESILIENCE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31266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Segoe UI"/>
              </a:rPr>
              <a:t>Root/jailbreak detection, debugger, repackaging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31266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C62828"/>
                </a:solidFill>
                <a:latin typeface="Segoe UI"/>
              </a:rPr>
              <a:t>Static + Frida + Patcher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82472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9527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52D"/>
                </a:solidFill>
                <a:latin typeface="Consolas"/>
              </a:rPr>
              <a:t>MASVS-PRIVACY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595274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673"/>
                </a:solidFill>
                <a:latin typeface="Segoe UI"/>
              </a:rPr>
              <a:t>Permissions, tracking, clipboard exposure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9527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E0000"/>
                </a:solidFill>
                <a:latin typeface="Segoe UI"/>
              </a:rPr>
              <a:t>Static + Comparison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52D"/>
                </a:solidFill>
                <a:latin typeface="Segoe UI"/>
              </a:rPr>
              <a:t>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673"/>
                </a:solidFill>
                <a:latin typeface="Segoe UI"/>
              </a:rPr>
              <a:t>Candidate features — pending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5240"/>
          </a:xfrm>
          <a:prstGeom prst="rect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Segoe UI"/>
              </a:rPr>
              <a:t>📄  PDF report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673"/>
                </a:solidFill>
                <a:latin typeface="Segoe UI"/>
              </a:rPr>
              <a:t>Client-ready formatted deliverables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9164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Segoe UI"/>
              </a:rPr>
              <a:t>🔍  Permission risk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673"/>
                </a:solidFill>
                <a:latin typeface="Segoe UI"/>
              </a:rPr>
              <a:t>Dangerous permission heat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9164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Segoe UI"/>
              </a:rPr>
              <a:t>🌐  API endpoint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673"/>
                </a:solidFill>
                <a:latin typeface="Segoe UI"/>
              </a:rPr>
              <a:t>URLs / deep links as attack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Segoe UI"/>
              </a:rPr>
              <a:t>✅  Pentest checklist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673"/>
                </a:solidFill>
                <a:latin typeface="Segoe UI"/>
              </a:rPr>
              <a:t>Auto test plan from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1089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246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Segoe UI"/>
              </a:rPr>
              <a:t>🤖  Ollama LLM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657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673"/>
                </a:solidFill>
                <a:latin typeface="Segoe UI"/>
              </a:rPr>
              <a:t>Bespoke Frida scripts via local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108960"/>
            <a:ext cx="3520440" cy="128016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246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Segoe UI"/>
              </a:rPr>
              <a:t>📲  Live device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657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673"/>
                </a:solidFill>
                <a:latin typeface="Segoe UI"/>
              </a:rPr>
              <a:t>Emulator/phone dynamic test battery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63440"/>
            <a:ext cx="10744200" cy="1371600"/>
          </a:xfrm>
          <a:prstGeom prst="roundRect">
            <a:avLst>
              <a:gd name="adj" fmla="val 6000"/>
            </a:avLst>
          </a:prstGeom>
          <a:solidFill>
            <a:srgbClr val="EDF1F5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8006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E0000"/>
                </a:solidFill>
                <a:latin typeface="Segoe UI"/>
              </a:rPr>
              <a:t>Deployment recap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120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52D"/>
                </a:solidFill>
                <a:latin typeface="Segoe UI"/>
              </a:rPr>
              <a:t>python run.py  →  http://&lt;your-ip&gt;:8000    •    One machine, whole team's browsers    •    All data stays in your network    •    Android + iOS + Patcher + PoCs included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673"/>
                </a:solidFill>
                <a:latin typeface="Segoe UI"/>
              </a:rPr>
              <a:t>MobiScan  •  OWASP MASTG Mobile Security Scanner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67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1F252D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C62828"/>
                </a:solidFill>
                <a:latin typeface="Segoe U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A6673"/>
                </a:solidFill>
                <a:latin typeface="Segoe UI"/>
              </a:rPr>
              <a:t>MobiScan — Self-hosted OWASP MASTG Mobile Security Scanner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